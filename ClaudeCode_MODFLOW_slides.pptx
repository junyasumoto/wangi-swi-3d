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Yu Gothic UI"/>
              </a:rPr>
              <a:t>Claude Code で進める MODFLOW 解析</a:t>
            </a:r>
          </a:p>
          <a:p>
            <a:pPr algn="l">
              <a:spcAft>
                <a:spcPts val="1600"/>
              </a:spcAft>
            </a:pPr>
            <a:r>
              <a:rPr sz="2200" b="1">
                <a:solidFill>
                  <a:srgbClr val="C15F3C"/>
                </a:solidFill>
                <a:latin typeface="Yu Gothic UI"/>
              </a:rPr>
              <a:t>3D 海水侵入モデルの PEST キャリブレーション実例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1054577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2EEE9"/>
                </a:solidFill>
                <a:latin typeface="Yu Gothic UI"/>
              </a:rPr>
              <a:t>AI コーディングエージェントによる地下水モデリング・ワークフロー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66666"/>
                </a:solidFill>
                <a:latin typeface="Yu Gothic UI"/>
              </a:rPr>
              <a:t>MODFLOW 6 (SWI) + flopy + PEST++ / 事例: Wangi 島 3D モデル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このトークの主題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「Claude Code を使って MODFLOW / PEST 解析を実際にどう進めたか」を実例で紹介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題材: Wangi 島 3D 海水侵入(SWI)モデルのキャリブレーション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MODFLOW 6 + SWI + 潮汐, flopy 構築, 観測井 20 本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焦点は『成果』より『進め方』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AI エージェントが 環境構築・デバッグ・自律実行・モニタリング・可視化 まで担う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人は判断と方針決定に集中できる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Claude Code 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WHAT IS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ターミナルで動く AI コーディングエージェント (Anthropic)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ファイルの読み書き・編集、コマンド実行 (PowerShell / bash)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長時間ジョブのバックグラウンド実行、定期実行 (cron)、Web 検索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セッションをまたぐ永続メモリ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「対話しながら、実際に手を動かす」アシスタント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本件では flopy / MODFLOW 6 / PEST++ を直接操作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Python スクリプト・制御ファイル・図表を自分で書いて実行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題材: Wangi 3D 海水侵入モデル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61385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MODFLOW 6 + SWI パッケージ + 潮汐, flopy で構築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3 層, 816 × 767 格子 (約 188 万セル/層)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観測井 20 本の水頭でキャリブレーション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目標: 層2 透水係数 (K2) を PEST++ で推定し観測水頭に整合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ゾーン別 (NW / 中央 / SSE) に K2 を調整</a:t>
            </a:r>
          </a:p>
        </p:txBody>
      </p:sp>
      <p:pic>
        <p:nvPicPr>
          <p:cNvPr id="7" name="Picture 6" descr="paper_well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935" y="1473200"/>
            <a:ext cx="4572000" cy="482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FloPy — MODFLOW を Python で記述する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WHY IT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FloPy = MODFLOW の構築・実行・後処理を行う Python パッケージ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DIS / NPF / GHB / SWI などのパッケージをコードで定義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sim.run_simulation() で MF6 実行、HeadFile で結果読み取り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ここが Claude Code と相性抜群の理由: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モデル定義が『テキスト入力ファイル』ではなく『Python コード』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→ AI エージェントがモデルを直接 読んで・書き換えられる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例: warm-start 修正は flopy の初期条件 (ModflowGwfic) を数行編集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透水係数のゾーン適用・涵養分割も numpy + flopy で柔軟に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はじめの一手: 環境差異の自動把握・修正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STEP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プロジェクトは 2 台の PC を Dropbox 同期 → 絶対パスがずれて動かない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Claude Code が host 名を検出し、python / mf6 / pestpp のパスを自動修正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SWI 対応の特殊ビルド mf6 の所在も探索して特定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「なぜ動かないか」を人手で調べる時間を圧縮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過去の実行ログ (別マシン) との差分から原因を即特定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対話で回すワークフロー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現状把握 → 設定修正 → スモークテスト → 本実行(背景) → 監視 → 集計 → 図/文書化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各ステップを自然言語で指示、Claude Code が実行して結果を要約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重い本実行はバックグラウンドへ、完了時に自動通知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待ち時間に人は別の判断ができる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つまずきは即ログ解析 → 原因特定 → 対処方針を提示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つまずき: MF6 が収束しない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DEBUG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PEST の有限差分摂動で MODFLOW が数値発散 (13 分かけて失敗)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Claude Code が収束ログ (mfsim.lst) を解析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発散セルを特定: SSE ゾーンの高 K セル (K2 ≈ 53 m/d)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原因: 極端な透水係数コントラストでの Newton 不安定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ジャコビアンが壊れ、最適化が無意味に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技術的ブレークスルー: warm-start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BREAKTHROUGH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Claude Code が flopy スクリプト (ModflowGwfic) を自動修正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base 収束解 (warmstart_base.hds) を各 forward の初期条件に使用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効果は劇的: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発散していた摂動が 13 分 → 14 秒 (〜40 倍高速)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パラメータ全域で収束、全 run が 0 failed</a:t>
            </a:r>
          </a:p>
          <a:p>
            <a:pPr algn="l" lvl="1">
              <a:spcAft>
                <a:spcPts val="10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– NOPTMAX=3 のキャリブレーションが約 1 時間で完走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初期条件は収束解に影響しない → 結果にバイアスなし (検証済)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自律的なシナリオ探索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248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C(global) → A(3-zone K2) → B(+涵養) → D(+中央涵養) を順に実行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各 約1時間の本実行を バックグラウンド で起動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15 分ごとに 自動モニタリング (cron) で進捗報告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発散・失敗を検知し、対処方針を自動提示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Φ は単調に低下するが…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D は涵養が非現実値 (5400 mm/yr) → 過剰適合の兆候を指摘</a:t>
            </a:r>
          </a:p>
        </p:txBody>
      </p:sp>
      <p:pic>
        <p:nvPicPr>
          <p:cNvPr id="7" name="Picture 6" descr="scenario_comparison_CA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175" y="1987062"/>
            <a:ext cx="4937760" cy="37982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発見: 「合わない井戸」の正体は宙水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652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中央ゾーンの残差が構造的に消えない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ユーザの直感「宙水 (perched) では?」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Claude Code が depth-to-water 診断を実装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地下水位 − 地表標高 ≈ 0 = 地下水面が地表 = 宙水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ww10/11/12 が該当、海の塩水境界と decoupled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→ 広域帯水層モデルで再現するのは原理的に不適切</a:t>
            </a:r>
          </a:p>
        </p:txBody>
      </p:sp>
      <p:pic>
        <p:nvPicPr>
          <p:cNvPr id="7" name="Picture 6" descr="Aclean_perched_diagno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295" y="2783293"/>
            <a:ext cx="5120640" cy="22058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概念の整理: 同化可能な観測集合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RECLASSIFY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24809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観測井を水理状態で再分類: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regional / perched / boundary-controlled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「全井戸を無理に合わせる」のではなく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『広域帯水層モデルが同化すべき観測集合を定義』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井戸除外 = 恣意的でなく、モデル概念の明確化</a:t>
            </a:r>
          </a:p>
        </p:txBody>
      </p:sp>
      <p:pic>
        <p:nvPicPr>
          <p:cNvPr id="7" name="Picture 6" descr="paper_well_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802" y="1371600"/>
            <a:ext cx="476450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主結果: A-clean (preferred calibration)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MAIN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0652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宙水 3 井戸を除外 → 14 井戸・3-zone K2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RMSE 1.75 m、非現実的な涵養を使わない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中央残差も自然に消える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regional 井戸は 1:1 付近に整合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perched / boundary は系統的に外れる (別の水理状態)</a:t>
            </a:r>
          </a:p>
        </p:txBody>
      </p:sp>
      <p:pic>
        <p:nvPicPr>
          <p:cNvPr id="7" name="Picture 6" descr="paper_obs_vs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015" y="13716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頑健性・診断・不確実性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823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strict-12: 疑い井戸も除外 → k2_sse 1.60→1.52 (頑健)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SSE 分割診断: パラメータ増でも Φ −1%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→ 過剰パラメータ化を避ける根拠</a:t>
            </a:r>
          </a:p>
          <a:p>
            <a:pPr algn="l">
              <a:spcAft>
                <a:spcPts val="900"/>
              </a:spcAft>
            </a:pPr>
            <a:r>
              <a:rPr sz="1800" b="1">
                <a:solidFill>
                  <a:srgbClr val="2B2B2B"/>
                </a:solidFill>
                <a:latin typeface="Yu Gothic UI"/>
              </a:rPr>
              <a:t>■ FOSM: k2_sse のみ identifiable, 相関も弱い</a:t>
            </a:r>
          </a:p>
          <a:p>
            <a:pPr algn="l" lvl="1">
              <a:spcAft>
                <a:spcPts val="900"/>
              </a:spcAft>
            </a:pPr>
            <a:r>
              <a:rPr sz="1400" b="0">
                <a:solidFill>
                  <a:srgbClr val="666666"/>
                </a:solidFill>
                <a:latin typeface="Yu Gothic UI"/>
              </a:rPr>
              <a:t>– 『SSE 透水性だけがデータから推定できる』に統計的裏付け</a:t>
            </a:r>
          </a:p>
        </p:txBody>
      </p:sp>
      <p:pic>
        <p:nvPicPr>
          <p:cNvPr id="7" name="Picture 6" descr="Aclean_FO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415" y="2781300"/>
            <a:ext cx="530352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Claude Code が効いた点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WHY IT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環境差異の自動検出・修正 (パス・実行体)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長時間ジョブのバックグラウンド実行 + 自動モニタリング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失敗ログの即時解析と原因特定 (発散セルの同定)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試行錯誤の高速化 (数十分の検証を即実行・並行)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永続メモリで知見を次セッションへ継承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B2B2B"/>
                </a:solidFill>
                <a:latin typeface="Yu Gothic UI"/>
              </a:rPr>
              <a:t>■ 図・表・セッションノートの自動生成 (本スライドの素材も)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729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Yu Gothic UI"/>
              </a:rPr>
              <a:t>数字で見る成果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15F3C"/>
                </a:solidFill>
                <a:latin typeface="Yu Gothic UI"/>
              </a:rPr>
              <a:t>BY THE NUMBERS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45003" cy="2377440"/>
          </a:xfrm>
          <a:prstGeom prst="rect">
            <a:avLst/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45003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254500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15F3C"/>
                </a:solidFill>
                <a:latin typeface="Yu Gothic UI"/>
              </a:rPr>
              <a:t>6+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254500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Yu Gothic UI"/>
              </a:rPr>
              <a:t>探索シナリオ
+ 感度/診断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963" y="2011680"/>
            <a:ext cx="2545003" cy="2377440"/>
          </a:xfrm>
          <a:prstGeom prst="rect">
            <a:avLst/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7963" y="2011680"/>
            <a:ext cx="2545003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963" y="2468880"/>
            <a:ext cx="254500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15F3C"/>
                </a:solidFill>
                <a:latin typeface="Yu Gothic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7963" y="3566160"/>
            <a:ext cx="254500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Yu Gothic UI"/>
              </a:rPr>
              <a:t>warm-start 後の
失敗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2011680"/>
            <a:ext cx="2545003" cy="2377440"/>
          </a:xfrm>
          <a:prstGeom prst="rect">
            <a:avLst/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011680"/>
            <a:ext cx="2545003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468880"/>
            <a:ext cx="254500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15F3C"/>
                </a:solidFill>
                <a:latin typeface="Yu Gothic UI"/>
              </a:rPr>
              <a:t>40×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566160"/>
            <a:ext cx="254500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Yu Gothic UI"/>
              </a:rPr>
              <a:t>収束の高速化
(13分→14秒)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491" y="2011680"/>
            <a:ext cx="2545003" cy="2377440"/>
          </a:xfrm>
          <a:prstGeom prst="rect">
            <a:avLst/>
          </a:prstGeom>
          <a:solidFill>
            <a:srgbClr val="F2E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491" y="2011680"/>
            <a:ext cx="2545003" cy="635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491" y="2468880"/>
            <a:ext cx="2545003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C15F3C"/>
                </a:solidFill>
                <a:latin typeface="Yu Gothic UI"/>
              </a:rPr>
              <a:t>2.35→1.75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491" y="3566160"/>
            <a:ext cx="254500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Yu Gothic UI"/>
              </a:rPr>
              <a:t>head RMSE
(主結果)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772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Yu Gothic UI"/>
              </a:rPr>
              <a:t>k2_sse = 1.60 (×/÷1.4 で推定) ・ 解析〜可視化〜文書化まで一気通貫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 UI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FFFFFF"/>
                </a:solidFill>
                <a:latin typeface="Yu Gothic UI"/>
              </a:rPr>
              <a:t>Claude Code は『対話しながら実際に解析を回す』エージェント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MODFLOW / PEST のような重い数値解析でも、環境構築・デバッグ・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  自律実行・モニタリング・可視化までを一貫して支援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2EEE9"/>
                </a:solidFill>
                <a:latin typeface="Yu Gothic UI"/>
              </a:rPr>
              <a:t>人は『どの井戸を信じるか』のような本質的判断に集中できる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545775" cy="155448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572000"/>
            <a:ext cx="76200" cy="1554480"/>
          </a:xfrm>
          <a:prstGeom prst="rect">
            <a:avLst/>
          </a:prstGeom>
          <a:solidFill>
            <a:srgbClr val="C1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709160"/>
            <a:ext cx="1018001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15F3C"/>
                </a:solidFill>
                <a:latin typeface="Yu Gothic UI"/>
              </a:rPr>
              <a:t>Key message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Yu Gothic UI"/>
              </a:rPr>
              <a:t>残差を追加パラメータで機械的に吸収するのではなく、観測井が表す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Yu Gothic UI"/>
              </a:rPr>
              <a:t>水理状態を再分類することで、モデルが同化すべき観測集合を定義した。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