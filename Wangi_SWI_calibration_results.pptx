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Wangi 3D 海水侵入モデル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C15F3C"/>
                </a:solidFill>
                <a:latin typeface="Yu Gothic UI"/>
              </a:rPr>
              <a:t>PEST キャリブレーション結果 — 現状まとめ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105457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2EEE9"/>
                </a:solidFill>
                <a:latin typeface="Yu Gothic UI"/>
              </a:rPr>
              <a:t>MODFLOW 6 (SWI) + flopy + PEST++  /  探索 → 主結果 → 感度 → 診断 → 不確実性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2026-06 時点の計算結果サマリ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結論 (TL;DR)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主結果 A-clean: 宙水 3 井戸を除外した 14 井戸・3-zone K2 キャリブレーション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head RMSE 1.75 m、非現実的な涵養を使わない物理的に妥当な解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鍵は『観測井の水理状態の再分類』— 全井戸を無理に合わせない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perched(宙水)/boundary-controlled を同化対象から外す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同化可能な情報は SSE 透水性に集中 (k2_sse = 1.60, FOSM で identifiable)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NW・CENT は K2 非感度 / 残る残差は SSE の物理的不均質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パラメータ追加 (recharge / SSE 分割) では本質的に改善しないと確認済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モデル・データ設定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MODFLOW 6 + SWI (海水侵入) + 潮汐, flopy で構築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3 層構造, 816 × 767 格子 (約 188 万セル/層), 定常 SS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warm-start: base 収束解を初期条件に (全 run 0 failed)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観測: 井戸 20 本の水頭 (PPP 真値ベース)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同化対象は最終的に 14 本 (宙水 6 本を除外)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推定対象: 層2 透水係数 K2 のゾーン別乗数 (NW / CENT / SSE)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最適化: PEST++ GLM, NOPTMAX=3, Φ = Σ(重み×残差²)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全シナリオ一覧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2146"/>
                <a:gridCol w="805521"/>
                <a:gridCol w="966625"/>
                <a:gridCol w="1127729"/>
                <a:gridCol w="1288833"/>
                <a:gridCol w="1449937"/>
                <a:gridCol w="386650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シナリオ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井戸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params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Φ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RMSE(m)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k2_sse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 UI"/>
                        </a:rPr>
                        <a:t>位置づけ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base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89.96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2.21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K2=1 基準 (宙水込み)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C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89.96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global 2変数: 改善ゼロ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A4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80.46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2.22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0.50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3-zone K2 (探索)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B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77.86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2.18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0.86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+global 涵養 (探索)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D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70.78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2.07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2.00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+CENT 涵養 (診断/非現実)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A-clean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14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3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42.74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1.75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1.60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Yu Gothic UI"/>
                        </a:rPr>
                        <a:t>★主結果 (宙水除外)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strict-12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28.03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1.53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1.52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頑健性 (ww05/08 も除外)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SSE-split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12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27.78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c2.0/i1.45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Yu Gothic UI"/>
                        </a:rPr>
                        <a:t>診断: 分割は無効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Yu Gothic UI"/>
              </a:rPr>
              <a:t>注: Φ は同化井戸数が変わると非比較 (17→14→12 で系列が分かれる)。RMSE は各セットの clean head RMSE。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探索フェーズ C/A/B/D 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EXPLORATION</a:t>
            </a:r>
          </a:p>
        </p:txBody>
      </p:sp>
      <p:pic>
        <p:nvPicPr>
          <p:cNvPr id="6" name="Picture 5" descr="scenario_comparison_CA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3" y="1188720"/>
            <a:ext cx="671626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(a) Φ群別  (b) パラメータ vs 上下限  (c) obs-sim  (d) ゾーン別RMSE。Φ は下がるが D は涵養が非現実値。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探索フェーズの読み解き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C (global rch + k2): Φ 89.96 のまま — 全域一律では zonal 残差を補正できない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A4 (3-zone K2): Φ 80.46 (−10.6%) — NW/SSE は内部最適、CENT は床張り付き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B (+global 涵養): Φ 77.86 — CENT 改善も SSE を overshoot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D (+CENT 涵養): Φ 70.78 だが涵養 1800/5400 mm/yr の非現実値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5 params 中 3 つが bound 張り付き = 過剰適合のサイン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→ Φ 低下は『パラメータで残差を吸収』しているだけ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転換点: CENT 残差の正体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TURNING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0801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中央の ww04/ww11/ww12 は ~200 m 以内なのに観測水頭が 2.4/6.7/7.5 m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5 m の局所差を連続帯水層では再現不能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CENT 涵養を上げると ww11/12 は上がるが ww04 を過大予測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同一ゾーン内で逆方向の補正が必要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→ ww11/ww12 は ww04 と別の水理系 (宙水の疑い)</a:t>
            </a:r>
          </a:p>
        </p:txBody>
      </p:sp>
      <p:pic>
        <p:nvPicPr>
          <p:cNvPr id="7" name="Picture 6" descr="scenario_CENT_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2686929"/>
            <a:ext cx="5669280" cy="23985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宙水(perched)の診断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0801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指標: depth-to-water = 地表標高 − 観測水頭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宙水 ≈ 0 (地下水面が地表), 広域井戸 &gt; 2 m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該当: ww10 (沿岸30m, 水頭15.4=地表), ww11, ww12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海の塩水境界と decoupled = 広域帯水層モデルの対象外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除外で base Φ が 89.96 → 48.06 (宙水3本が ~42 を占有)</a:t>
            </a:r>
          </a:p>
        </p:txBody>
      </p:sp>
      <p:pic>
        <p:nvPicPr>
          <p:cNvPr id="7" name="Picture 6" descr="Aclean_perched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2665124"/>
            <a:ext cx="5669280" cy="24421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観測井の再分類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RECLASSIFY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97377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水理状態で 3 分類: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regional: 広域帯水層 (同化対象)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perched: 地下水面が地表 (宙水, 除外)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boundary-controlled: 沿岸で GHB 支配・K 非感度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『全井戸を合わせる』でなく『同化すべき集合を定義』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= モデル概念の整理 (恣意的除外ではない)</a:t>
            </a:r>
          </a:p>
        </p:txBody>
      </p:sp>
      <p:pic>
        <p:nvPicPr>
          <p:cNvPr id="7" name="Picture 6" descr="paper_well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701" y="1234440"/>
            <a:ext cx="502438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独立検証: 化学・年代が分類を裏付け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INDEPENDENT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4225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head-based 分類を SF6 年代・海水混合率で独立検証 (ww01–10)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SF6 年代: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perched (ww01,ww10) = modern &lt;1yr → 局所涵養・広域と decoupled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regional (ww02/04/07/09) = 8–18 yr の老齢集団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ww05/ww08 (疑い・保持) = 13–14 yr = 広域と同年代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→ 宙水でなく広域水。A-clean で残した判断を裏付け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モデルも傍証: perched で obs modern vs sim 9–9000 yr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海水混合率は沿岸位置を反映 (perched 判定とは別軸)</a:t>
            </a:r>
          </a:p>
        </p:txBody>
      </p:sp>
      <p:pic>
        <p:nvPicPr>
          <p:cNvPr id="7" name="Picture 6" descr="chem_ag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15" y="2586345"/>
            <a:ext cx="6035040" cy="25997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主結果 A-clean — 数値詳細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MAIN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1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5968"/>
                <a:gridCol w="955702"/>
                <a:gridCol w="1529124"/>
                <a:gridCol w="1529124"/>
                <a:gridCol w="1529124"/>
                <a:gridCol w="305824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ゾーン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n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RMSE(m)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bias(m)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Φ寄与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評価</a:t>
                      </a:r>
                    </a:p>
                  </a:txBody>
                  <a:tcPr marT="25400" marB="25400" anchor="ctr"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CENT (ww04)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0.70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−0.70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0.49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良好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NW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1.17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+0.04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6.82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良好 (平衡)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SSE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2.11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+1.07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35.44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Yu Gothic UI"/>
                        </a:rPr>
                        <a:t>残差集中 (83%)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全 14 井戸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14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1.75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+0.58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42.74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Yu Gothic U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23360"/>
            <a:ext cx="1127729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Yu Gothic UI"/>
              </a:rPr>
              <a:t>■ 最適パラメータ: k2_sse = 1.60 (有意), k2_nw = 2.0・k2_cent = 2.0 (上限・弱拘束)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宙水除外で K2 最適方向が逆転 (下→上): 残った広域井戸は僅かに過大予測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Yu Gothic UI"/>
              </a:rPr>
              <a:t>■ Φ 推移: 48.06 (clean base) → 43.22 → 42.99 → 42.74 (全 run 0 failed)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主結果 A-clean — 当てはまり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MAIN RESULT</a:t>
            </a:r>
          </a:p>
        </p:txBody>
      </p:sp>
      <p:pic>
        <p:nvPicPr>
          <p:cNvPr id="6" name="Picture 5" descr="Aclean_calibr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3" y="1188720"/>
            <a:ext cx="671626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(a)obs-sim (b)Φ群別 (c)ゾーンRMSE (d)SSE残差。regional は 1:1 付近、残差は SSE に集中。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頑健性: strict-clean-12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宙水疑いの ww05/ww08 も除外して 12 井戸で再キャリブレーション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主結果パラメータはほぼ不変: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k2_sse: 1.60 → 1.52 (−5%)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k2_nw / k2_cent: 2.0 / 2.0 (同一)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obs_sse Φ の減少 (35→21) は除外2本の misfit 分で、パラメータ変化ではない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→ A-clean の推定は観測選別に対して頑健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診断: SSE サブゾーン分割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SSE を海岸距離 500 m で coastal/inland に分割 (4 params)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Φ 28.05 → 27.78 (−1%, 実質改善なし)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k2_sse_coast → 上限漂流 (ww06 は境界支配で K 非感度)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k2_sse_inland → 単一値を再現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内陸残差は ww15(+2.7) vs ww07/13(−1〜2) の逆符号 = 既約な不均質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→ SSE misfit はサブゾーン化で解けない物理的構造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単一 k2_sse が適切なパラメータ化レベル = 過剰パラメータ化の回避根拠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不確実性: FOSM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2513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A-clean 最適点で事後共分散を評価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k2_sse のみ identifiable: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事後σ 0.146 vs 事前 0.206 (−29%)</a:t>
            </a:r>
          </a:p>
          <a:p>
            <a:pPr algn="l" lvl="1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– k2_sse = 1.59, 1σ [1.14, 2.22] (×/÷1.40)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k2_nw / k2_cent は posterior ≈ prior (未拘束)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2B2B2B"/>
                </a:solidFill>
                <a:latin typeface="Yu Gothic UI"/>
              </a:rPr>
              <a:t>■ パラメータ相関 |corr| &lt; 0.11 → トレードオフなし</a:t>
            </a:r>
          </a:p>
        </p:txBody>
      </p:sp>
      <p:pic>
        <p:nvPicPr>
          <p:cNvPr id="7" name="Picture 6" descr="Aclean_FO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495" y="2667000"/>
            <a:ext cx="585216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残差構造のまとめ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RESIDUAL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NW (5本): bias ≈ 0、良好に同化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CENT: 宙水 ww11/12 を除けば ww04 のみ、ほぼ完璧 (Φ 0.5)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SSE (残差の主座, 83%):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沿岸 ww06/ww17: 海岸 GHB 境界支配で K 非感度 (系統的な +残差)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内陸 ww15(+) vs ww07/ww13(−): 真の局所不均質 (逆符号)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→ 残差は『未推定パラメータ』ではなく物理構造・境界条件に由来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現状の到達点と未決事項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STATUS &amp;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到達点: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物理的に妥当な主結果 A-clean を確定 (RMSE 1.75 m)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頑健性・診断・不確実性まで一通り評価済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成果物 (図・表・セッションノート・summary.csv) 整備済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未決・選択肢: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ww11/12 等の宙水仮説を地質・化学データで裏付け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SSE 内陸不均質の概念的説明 (層構造・局所地質)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論文化: A-clean を主, strict-12/SSE-split/FOSM を補助解析として提示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Yu Gothic UI"/>
              </a:rPr>
              <a:t>関連ファイル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16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SESSION_2026-06-15_PEST_Aclean_MAIN.md — 主結果の詳細記録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scenario_summary_ABD.csv — 全 8 シナリオの数値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diag_Aclean / diag_strict12 / diag_ssesplit .csv — 各最適の井戸別診断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pest_Aclean.pst / pest_strict12.pst — 制御ファイル snapshot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pest.par.usum.csv / pest.post.cov — FOSM 事後不確実性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figs/ — 本スライドの全図 (paper_*, Aclean_*, scenario_*)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